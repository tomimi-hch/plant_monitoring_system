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8.jpg" ContentType="image/jpeg"/>
  <Override PartName="/ppt/media/image39.jpg" ContentType="image/jpeg"/>
  <Override PartName="/ppt/media/image40.jpg" ContentType="image/jpeg"/>
  <Override PartName="/ppt/media/image41.jpg" ContentType="image/jpeg"/>
  <Override PartName="/ppt/media/image42.jpg" ContentType="image/jpeg"/>
  <Override PartName="/ppt/media/image43.jpg" ContentType="image/jpeg"/>
  <Override PartName="/ppt/media/image44.jpg" ContentType="image/jpeg"/>
  <Override PartName="/ppt/media/image45.jpg" ContentType="image/jpeg"/>
  <Override PartName="/ppt/media/image46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71" r:id="rId10"/>
    <p:sldId id="265" r:id="rId11"/>
    <p:sldId id="273" r:id="rId12"/>
    <p:sldId id="266" r:id="rId13"/>
    <p:sldId id="274" r:id="rId14"/>
    <p:sldId id="267" r:id="rId15"/>
    <p:sldId id="275" r:id="rId16"/>
    <p:sldId id="264" r:id="rId17"/>
    <p:sldId id="276" r:id="rId18"/>
    <p:sldId id="268" r:id="rId19"/>
    <p:sldId id="277" r:id="rId20"/>
    <p:sldId id="278" r:id="rId21"/>
    <p:sldId id="270" r:id="rId22"/>
    <p:sldId id="269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56F14-FF68-4E1B-8208-14003E804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DC7D51-55CE-4D24-A5F4-DF6476C41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D3AEE8-5D35-49A3-94FF-6E389CFC9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3C43-62FF-460F-9C9B-11390E1C8162}" type="datetimeFigureOut">
              <a:rPr lang="zh-CN" altLang="en-US" smtClean="0"/>
              <a:t>2021/11/26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035A4A-739B-4046-9881-B3A4689E0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9356C2-2835-4D7C-866D-7FC4C2EE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B9A3-7F23-4AAF-9F11-132103A2B0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944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95855-F3DA-430C-8835-C01CBDFA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260205-06E8-412F-92AC-C9A8734D5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DA6EAD-599B-4852-AC11-66D6ACC1E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3C43-62FF-460F-9C9B-11390E1C8162}" type="datetimeFigureOut">
              <a:rPr lang="zh-CN" altLang="en-US" smtClean="0"/>
              <a:t>2021/11/26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E29DCE-A4DB-400C-9CB5-F97E36EC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96AE3A-C40A-4B53-887C-EA69BAB0B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B9A3-7F23-4AAF-9F11-132103A2B0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69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AC2EA5-B2B9-4EB3-8752-80891B964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7E2D13-488F-4A8D-A968-46F381C14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C219C5-7C3D-4106-8C6B-956E6504A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3C43-62FF-460F-9C9B-11390E1C8162}" type="datetimeFigureOut">
              <a:rPr lang="zh-CN" altLang="en-US" smtClean="0"/>
              <a:t>2021/11/26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DADCAB-BD9E-4DAF-9C7A-BC0081AD3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E5FF3B-12A7-4C40-BEA4-165E8C2A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B9A3-7F23-4AAF-9F11-132103A2B0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73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AE93D1-97C6-4D09-AA53-243AEDC11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837DB0-7CD5-4ADB-8E3A-DF911E00E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3BB4C7-4F04-4281-80E8-D60E47668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A42CD4-BDC4-4D05-9068-A8ADFB89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3C43-62FF-460F-9C9B-11390E1C8162}" type="datetimeFigureOut">
              <a:rPr lang="zh-CN" altLang="en-US" smtClean="0"/>
              <a:t>2021/11/26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E385B2-2D12-4A96-A811-0EE9ED2AE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95DE5E-26F4-49BE-ABAA-6EE6F48F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B9A3-7F23-4AAF-9F11-132103A2B0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65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29483-794A-469E-BBB9-596DA1823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2CA03E-7FC1-408F-A2A1-859E523CC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6C4B34-1AF1-49F3-BC7A-8F8AD8E81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6B1C37-DBAE-4DE7-A52D-96A9CA9B5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3969B7-1428-4F59-867C-B27346F00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66FBFD-9A5A-4E46-883E-706F448AB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3C43-62FF-460F-9C9B-11390E1C8162}" type="datetimeFigureOut">
              <a:rPr lang="zh-CN" altLang="en-US" smtClean="0"/>
              <a:t>2021/11/26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FBA8CF-D861-4AB1-A4F7-3583B0DFB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562B74-5A1D-43C8-9995-7880F774B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B9A3-7F23-4AAF-9F11-132103A2B0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13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DDA66-8CE8-4F0C-8F64-48A7BDFC3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67BBF7-E362-44C4-8164-FABD7A163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3C43-62FF-460F-9C9B-11390E1C8162}" type="datetimeFigureOut">
              <a:rPr lang="zh-CN" altLang="en-US" smtClean="0"/>
              <a:t>2021/11/26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319F53-9355-4F4C-83E3-DD87DEF56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78A0EC-F534-4587-9A1C-6F4A19A9F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B9A3-7F23-4AAF-9F11-132103A2B0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50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A18D8A-F5EE-47BF-81F9-6C6C62D45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3C43-62FF-460F-9C9B-11390E1C8162}" type="datetimeFigureOut">
              <a:rPr lang="zh-CN" altLang="en-US" smtClean="0"/>
              <a:t>2021/11/26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7D220D-00EC-4DB5-989F-9FD6CE3D3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288A6E-8C7E-4C9A-AEE9-9B50E9C5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B9A3-7F23-4AAF-9F11-132103A2B0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8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CA1A5-F1ED-43C1-A0F1-1D900DD65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FF1643-EA11-47F3-B983-59779D1A1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4A84E5-B7CB-4AA4-840A-7B1C2503F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F644E2-DB97-430E-8265-A6900494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3C43-62FF-460F-9C9B-11390E1C8162}" type="datetimeFigureOut">
              <a:rPr lang="zh-CN" altLang="en-US" smtClean="0"/>
              <a:t>2021/11/26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F2AB8B-8220-4D3D-BF66-47DD56AB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B31EDD-D3AD-48E6-9419-E6903F347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B9A3-7F23-4AAF-9F11-132103A2B0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44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0F683-EB5B-416E-B9E5-036D82B89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38A3D1-0BA8-4FBA-BB4F-1B0250BF5C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074284-7C60-43E2-AF2B-DC6DDB0BA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CE8EC6-F613-4A5A-B6FE-68270D249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3C43-62FF-460F-9C9B-11390E1C8162}" type="datetimeFigureOut">
              <a:rPr lang="zh-CN" altLang="en-US" smtClean="0"/>
              <a:t>2021/11/26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A037B4-E224-4F76-9839-C3B90AD19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EDE16E-8F5F-44F8-A317-050DEAF4D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B9A3-7F23-4AAF-9F11-132103A2B0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5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1F5D8-ABA3-4E48-B35B-F8066585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D15E26-0E64-4EAE-AA93-33EF9EF0A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6FBAA-CA26-444B-A7DD-78867F12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3C43-62FF-460F-9C9B-11390E1C8162}" type="datetimeFigureOut">
              <a:rPr lang="zh-CN" altLang="en-US" smtClean="0"/>
              <a:t>2021/11/26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FF5B7F-A183-4F13-B511-2D04A9D15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FBDF2E-5C14-4E3E-A083-A571173D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B9A3-7F23-4AAF-9F11-132103A2B0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08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7DC7CF-FFD6-499A-BA62-D3FFB37F1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5A101F-A3E5-48E2-9F2A-D3D53D0BF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F6665-A8D2-4FDE-BF5C-A79B3D46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3C43-62FF-460F-9C9B-11390E1C8162}" type="datetimeFigureOut">
              <a:rPr lang="zh-CN" altLang="en-US" smtClean="0"/>
              <a:t>2021/11/26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01A1B2-483F-41EC-A96E-B8F2D95F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3D0331-6718-4E4A-BFC7-54762245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B9A3-7F23-4AAF-9F11-132103A2B0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42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49F5F2-84FF-40AF-ADC4-0841BAD4D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6A9B7-3944-47B8-98D4-920C72C81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F30B6B-4800-45BA-94B5-A24FCF2F7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3C43-62FF-460F-9C9B-11390E1C8162}" type="datetimeFigureOut">
              <a:rPr lang="zh-CN" altLang="en-US" smtClean="0"/>
              <a:t>2021/11/26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D373E6-E22B-4BD9-A4E4-944B5A845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6D271-291A-4678-BE6B-A6F34A813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5B9A3-7F23-4AAF-9F11-132103A2B0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480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E5D7FD3-E387-45BC-8AA3-45D137E35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5924"/>
            <a:ext cx="12192000" cy="342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94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EEDB5A2-78AC-448F-BFFE-3D2EE77CE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00" y="324831"/>
            <a:ext cx="5906012" cy="5410669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8EF02AF-3897-42BA-8278-A748F9EDE5F5}"/>
              </a:ext>
            </a:extLst>
          </p:cNvPr>
          <p:cNvCxnSpPr/>
          <p:nvPr/>
        </p:nvCxnSpPr>
        <p:spPr>
          <a:xfrm>
            <a:off x="4844374" y="2101174"/>
            <a:ext cx="337549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D57ADA9E-2B94-47E1-9DFD-BF75177B29BD}"/>
              </a:ext>
            </a:extLst>
          </p:cNvPr>
          <p:cNvSpPr txBox="1"/>
          <p:nvPr/>
        </p:nvSpPr>
        <p:spPr>
          <a:xfrm>
            <a:off x="8336604" y="904672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什么是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CMSIS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B2E8986-E655-4A13-BA63-13D74CF372E1}"/>
              </a:ext>
            </a:extLst>
          </p:cNvPr>
          <p:cNvSpPr txBox="1"/>
          <p:nvPr/>
        </p:nvSpPr>
        <p:spPr>
          <a:xfrm>
            <a:off x="8336604" y="1904589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V1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V2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又是指的什么？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B62F89-4F65-4F84-B947-7012373E6F08}"/>
              </a:ext>
            </a:extLst>
          </p:cNvPr>
          <p:cNvSpPr txBox="1"/>
          <p:nvPr/>
        </p:nvSpPr>
        <p:spPr>
          <a:xfrm>
            <a:off x="8336604" y="2904506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V1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V2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有什么区别？</a:t>
            </a:r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BE3FA397-8C55-4FC7-B006-904F4B12108E}"/>
              </a:ext>
            </a:extLst>
          </p:cNvPr>
          <p:cNvSpPr/>
          <p:nvPr/>
        </p:nvSpPr>
        <p:spPr>
          <a:xfrm>
            <a:off x="8219871" y="904672"/>
            <a:ext cx="262647" cy="2369166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840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6B452EC-57E2-4C16-BC8B-7BA7A51D573C}"/>
              </a:ext>
            </a:extLst>
          </p:cNvPr>
          <p:cNvSpPr txBox="1"/>
          <p:nvPr/>
        </p:nvSpPr>
        <p:spPr>
          <a:xfrm>
            <a:off x="1088994" y="782272"/>
            <a:ext cx="1809849" cy="38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什么是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CMSIS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B8F5E4-2A9C-48A2-8FBA-F254C8AEB7E2}"/>
              </a:ext>
            </a:extLst>
          </p:cNvPr>
          <p:cNvSpPr txBox="1"/>
          <p:nvPr/>
        </p:nvSpPr>
        <p:spPr>
          <a:xfrm>
            <a:off x="2642587" y="4736624"/>
            <a:ext cx="690682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CMSIS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资料包：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i="1" u="sng" dirty="0" err="1">
                <a:latin typeface="黑体" panose="02010609060101010101" pitchFamily="49" charset="-122"/>
                <a:ea typeface="黑体" panose="02010609060101010101" pitchFamily="49" charset="-122"/>
              </a:rPr>
              <a:t>rtos_doc_source</a:t>
            </a:r>
            <a:r>
              <a:rPr lang="en-US" altLang="zh-CN" sz="1600" i="1" u="sng" dirty="0">
                <a:latin typeface="黑体" panose="02010609060101010101" pitchFamily="49" charset="-122"/>
                <a:ea typeface="黑体" panose="02010609060101010101" pitchFamily="49" charset="-122"/>
              </a:rPr>
              <a:t>\RTOS</a:t>
            </a:r>
            <a:r>
              <a:rPr lang="zh-CN" altLang="en-US" sz="1600" i="1" u="sng" dirty="0">
                <a:latin typeface="黑体" panose="02010609060101010101" pitchFamily="49" charset="-122"/>
                <a:ea typeface="黑体" panose="02010609060101010101" pitchFamily="49" charset="-122"/>
              </a:rPr>
              <a:t>培训资料</a:t>
            </a:r>
            <a:r>
              <a:rPr lang="en-US" altLang="zh-CN" sz="1600" i="1" u="sng" dirty="0">
                <a:latin typeface="黑体" panose="02010609060101010101" pitchFamily="49" charset="-122"/>
                <a:ea typeface="黑体" panose="02010609060101010101" pitchFamily="49" charset="-122"/>
              </a:rPr>
              <a:t>\00_</a:t>
            </a:r>
            <a:r>
              <a:rPr lang="zh-CN" altLang="en-US" sz="1600" i="1" u="sng" dirty="0">
                <a:latin typeface="黑体" panose="02010609060101010101" pitchFamily="49" charset="-122"/>
                <a:ea typeface="黑体" panose="02010609060101010101" pitchFamily="49" charset="-122"/>
              </a:rPr>
              <a:t>基础资源资料</a:t>
            </a:r>
            <a:r>
              <a:rPr lang="en-US" altLang="zh-CN" sz="1600" i="1" u="sng" dirty="0">
                <a:latin typeface="黑体" panose="02010609060101010101" pitchFamily="49" charset="-122"/>
                <a:ea typeface="黑体" panose="02010609060101010101" pitchFamily="49" charset="-122"/>
              </a:rPr>
              <a:t>\4_ARM</a:t>
            </a:r>
            <a:r>
              <a:rPr lang="zh-CN" altLang="en-US" sz="1600" i="1" u="sng" dirty="0">
                <a:latin typeface="黑体" panose="02010609060101010101" pitchFamily="49" charset="-122"/>
                <a:ea typeface="黑体" panose="02010609060101010101" pitchFamily="49" charset="-122"/>
              </a:rPr>
              <a:t>架构通用资料</a:t>
            </a:r>
            <a:endParaRPr lang="zh-CN" altLang="en-US" i="1" u="sng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0A2225-FE27-43E1-B9B9-2CF4BF2FDA34}"/>
              </a:ext>
            </a:extLst>
          </p:cNvPr>
          <p:cNvSpPr txBox="1"/>
          <p:nvPr/>
        </p:nvSpPr>
        <p:spPr>
          <a:xfrm>
            <a:off x="1559511" y="1830811"/>
            <a:ext cx="9072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* CMSIS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的英文全称是：</a:t>
            </a:r>
            <a:r>
              <a:rPr lang="en-US" altLang="zh-CN" dirty="0">
                <a:latin typeface="Consolas" panose="020B0609020204030204" pitchFamily="49" charset="0"/>
                <a:ea typeface="黑体" panose="02010609060101010101" pitchFamily="49" charset="-122"/>
              </a:rPr>
              <a:t>Common Microcontroller Software Interface Standard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，直译过来就是“通用微控制器软件接口标准”；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9454609-C098-4990-80FD-63C494A4E949}"/>
              </a:ext>
            </a:extLst>
          </p:cNvPr>
          <p:cNvSpPr txBox="1"/>
          <p:nvPr/>
        </p:nvSpPr>
        <p:spPr>
          <a:xfrm>
            <a:off x="1559511" y="3429000"/>
            <a:ext cx="9072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它是一个用来让微控制器开发者减少学习时间、简化软件移植、加速工程创建仿真和加速应用产品上架的工具集合；</a:t>
            </a:r>
          </a:p>
        </p:txBody>
      </p:sp>
    </p:spTree>
    <p:extLst>
      <p:ext uri="{BB962C8B-B14F-4D97-AF65-F5344CB8AC3E}">
        <p14:creationId xmlns:p14="http://schemas.microsoft.com/office/powerpoint/2010/main" val="208027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2">
            <a:extLst>
              <a:ext uri="{FF2B5EF4-FFF2-40B4-BE49-F238E27FC236}">
                <a16:creationId xmlns:a16="http://schemas.microsoft.com/office/drawing/2014/main" id="{3C0A3212-111B-4AD1-A824-F6E6D7558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301243"/>
              </p:ext>
            </p:extLst>
          </p:nvPr>
        </p:nvGraphicFramePr>
        <p:xfrm>
          <a:off x="0" y="0"/>
          <a:ext cx="12189041" cy="6858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795">
                  <a:extLst>
                    <a:ext uri="{9D8B030D-6E8A-4147-A177-3AD203B41FA5}">
                      <a16:colId xmlns:a16="http://schemas.microsoft.com/office/drawing/2014/main" val="1278965958"/>
                    </a:ext>
                  </a:extLst>
                </a:gridCol>
                <a:gridCol w="3055620">
                  <a:extLst>
                    <a:ext uri="{9D8B030D-6E8A-4147-A177-3AD203B41FA5}">
                      <a16:colId xmlns:a16="http://schemas.microsoft.com/office/drawing/2014/main" val="2638976947"/>
                    </a:ext>
                  </a:extLst>
                </a:gridCol>
                <a:gridCol w="8360626">
                  <a:extLst>
                    <a:ext uri="{9D8B030D-6E8A-4147-A177-3AD203B41FA5}">
                      <a16:colId xmlns:a16="http://schemas.microsoft.com/office/drawing/2014/main" val="2783264380"/>
                    </a:ext>
                  </a:extLst>
                </a:gridCol>
              </a:tblGrid>
              <a:tr h="94647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CMSIS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effectLst/>
                        </a:rPr>
                        <a:t>处理对象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effectLst/>
                        </a:rPr>
                        <a:t>描述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821701245"/>
                  </a:ext>
                </a:extLst>
              </a:tr>
              <a:tr h="51224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Core(M)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All Cortex-M, </a:t>
                      </a:r>
                      <a:r>
                        <a:rPr lang="en-US" sz="1200" dirty="0" err="1">
                          <a:effectLst/>
                        </a:rPr>
                        <a:t>SecurCore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Cortex-M</a:t>
                      </a:r>
                      <a:r>
                        <a:rPr lang="zh-CN" altLang="en-US" sz="1200" dirty="0">
                          <a:effectLst/>
                        </a:rPr>
                        <a:t>内核处理器和外设的标准</a:t>
                      </a:r>
                      <a:r>
                        <a:rPr lang="en-US" altLang="zh-CN" sz="1200" dirty="0">
                          <a:effectLst/>
                        </a:rPr>
                        <a:t>API</a:t>
                      </a:r>
                      <a:r>
                        <a:rPr lang="zh-CN" altLang="en-US" sz="1200" dirty="0">
                          <a:effectLst/>
                        </a:rPr>
                        <a:t>。包含了适配</a:t>
                      </a:r>
                      <a:r>
                        <a:rPr lang="en-US" altLang="zh-CN" sz="1200" dirty="0">
                          <a:effectLst/>
                        </a:rPr>
                        <a:t>Cortex-M4/M7/M33/M35P</a:t>
                      </a:r>
                      <a:r>
                        <a:rPr lang="zh-CN" altLang="en-US" sz="1200" dirty="0">
                          <a:effectLst/>
                        </a:rPr>
                        <a:t>内核</a:t>
                      </a:r>
                      <a:r>
                        <a:rPr lang="en-US" altLang="zh-CN" sz="1200" dirty="0">
                          <a:effectLst/>
                        </a:rPr>
                        <a:t>SIMD</a:t>
                      </a:r>
                      <a:r>
                        <a:rPr lang="zh-CN" altLang="en-US" sz="1200" dirty="0">
                          <a:effectLst/>
                        </a:rPr>
                        <a:t>指令的内部函数。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4271375757"/>
                  </a:ext>
                </a:extLst>
              </a:tr>
              <a:tr h="41430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Core(A)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Cortex-A5/A7/A9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</a:t>
                      </a:r>
                      <a:r>
                        <a:rPr lang="en-US" altLang="zh-CN" sz="1200" dirty="0">
                          <a:effectLst/>
                        </a:rPr>
                        <a:t>ortex-A5/A7/A9</a:t>
                      </a:r>
                      <a:r>
                        <a:rPr lang="zh-CN" altLang="en-US" sz="1200" dirty="0">
                          <a:effectLst/>
                        </a:rPr>
                        <a:t>内核处理器和外设的标准</a:t>
                      </a:r>
                      <a:r>
                        <a:rPr lang="en-US" altLang="zh-CN" sz="1200" dirty="0">
                          <a:effectLst/>
                        </a:rPr>
                        <a:t>API</a:t>
                      </a:r>
                      <a:r>
                        <a:rPr lang="zh-CN" altLang="en-US" sz="1200" dirty="0">
                          <a:effectLst/>
                        </a:rPr>
                        <a:t>和基本的系统。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972741694"/>
                  </a:ext>
                </a:extLst>
              </a:tr>
              <a:tr h="51224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Driver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All Cortex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中间件的通用外设驱动接口，用来连接处理器外设和中间件的，比如和堆、文件系统或用户图形接口的通信接口。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318972488"/>
                  </a:ext>
                </a:extLst>
              </a:tr>
              <a:tr h="5706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DSP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All Cortex-M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适配不同数据类型、超过</a:t>
                      </a:r>
                      <a:r>
                        <a:rPr lang="en-US" altLang="zh-CN" sz="1200" dirty="0">
                          <a:effectLst/>
                        </a:rPr>
                        <a:t>60</a:t>
                      </a:r>
                      <a:r>
                        <a:rPr lang="zh-CN" altLang="en-US" sz="1200" dirty="0">
                          <a:effectLst/>
                        </a:rPr>
                        <a:t>个函数的</a:t>
                      </a:r>
                      <a:r>
                        <a:rPr lang="en-US" altLang="zh-CN" sz="1200" dirty="0">
                          <a:effectLst/>
                        </a:rPr>
                        <a:t>DSP</a:t>
                      </a:r>
                      <a:r>
                        <a:rPr lang="zh-CN" altLang="en-US" sz="1200" dirty="0">
                          <a:effectLst/>
                        </a:rPr>
                        <a:t>库，比如定点类型、单精度浮点类型。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32966613"/>
                  </a:ext>
                </a:extLst>
              </a:tr>
              <a:tr h="5122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NN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All Cortex-M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收集了高校的神经网络内核工具，用来在</a:t>
                      </a:r>
                      <a:r>
                        <a:rPr lang="en-US" altLang="zh-CN" sz="1200" dirty="0">
                          <a:effectLst/>
                        </a:rPr>
                        <a:t>Cortex-M</a:t>
                      </a:r>
                      <a:r>
                        <a:rPr lang="zh-CN" altLang="en-US" sz="1200" dirty="0">
                          <a:effectLst/>
                        </a:rPr>
                        <a:t>内核处理器上最高效的操作且又能最低程度的占用内存空间。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620345318"/>
                  </a:ext>
                </a:extLst>
              </a:tr>
              <a:tr h="51224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RTOS V1</a:t>
                      </a:r>
                      <a:endParaRPr lang="en-US" sz="12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Cortex-M0/M0+/M3/M4/M7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除了</a:t>
                      </a:r>
                      <a:r>
                        <a:rPr lang="en-US" altLang="zh-CN" sz="1200" dirty="0">
                          <a:effectLst/>
                        </a:rPr>
                        <a:t>RTX</a:t>
                      </a:r>
                      <a:r>
                        <a:rPr lang="zh-CN" altLang="en-US" sz="1200" dirty="0">
                          <a:effectLst/>
                        </a:rPr>
                        <a:t>中用到的一些通用的</a:t>
                      </a:r>
                      <a:r>
                        <a:rPr lang="en-US" altLang="zh-CN" sz="1200" dirty="0">
                          <a:effectLst/>
                        </a:rPr>
                        <a:t>RTOS</a:t>
                      </a:r>
                      <a:r>
                        <a:rPr lang="zh-CN" altLang="en-US" sz="1200" dirty="0">
                          <a:effectLst/>
                        </a:rPr>
                        <a:t>接口。它使能了跨多重</a:t>
                      </a:r>
                      <a:r>
                        <a:rPr lang="en-US" altLang="zh-CN" sz="1200" dirty="0">
                          <a:effectLst/>
                        </a:rPr>
                        <a:t>RTOS</a:t>
                      </a:r>
                      <a:r>
                        <a:rPr lang="zh-CN" altLang="en-US" sz="1200" dirty="0">
                          <a:effectLst/>
                        </a:rPr>
                        <a:t>运行的软件组件。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296155415"/>
                  </a:ext>
                </a:extLst>
              </a:tr>
              <a:tr h="51224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RTOS V2</a:t>
                      </a:r>
                      <a:endParaRPr lang="en-US" sz="12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All Cortex-M, Cortex-A5/A7/A9</a:t>
                      </a:r>
                      <a:endParaRPr lang="pt-BR" sz="12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在</a:t>
                      </a:r>
                      <a:r>
                        <a:rPr lang="en-US" altLang="zh-CN" sz="1200" dirty="0">
                          <a:effectLst/>
                        </a:rPr>
                        <a:t>RTOS V1</a:t>
                      </a:r>
                      <a:r>
                        <a:rPr lang="zh-CN" altLang="en-US" sz="1200" dirty="0">
                          <a:effectLst/>
                        </a:rPr>
                        <a:t>上扩展了一些功能，比如</a:t>
                      </a:r>
                      <a:r>
                        <a:rPr lang="en-US" altLang="zh-CN" sz="1200" dirty="0">
                          <a:effectLst/>
                        </a:rPr>
                        <a:t>Armv8-M</a:t>
                      </a:r>
                      <a:r>
                        <a:rPr lang="zh-CN" altLang="en-US" sz="1200" dirty="0">
                          <a:effectLst/>
                        </a:rPr>
                        <a:t>内核的适配、动态目标的创建、多核协调、二进制兼容接口。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455843"/>
                  </a:ext>
                </a:extLst>
              </a:tr>
              <a:tr h="51224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PACK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All Cortex-M, </a:t>
                      </a:r>
                      <a:r>
                        <a:rPr lang="en-US" sz="1200" dirty="0" err="1">
                          <a:effectLst/>
                        </a:rPr>
                        <a:t>SecurCore</a:t>
                      </a:r>
                      <a:r>
                        <a:rPr lang="en-US" sz="1200" dirty="0">
                          <a:effectLst/>
                        </a:rPr>
                        <a:t>, Cortex-A5/A7/A9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描述软件组件、设备参数和评估板支持的交付机制。它简化了软件重用和产品生命周期管理</a:t>
                      </a:r>
                      <a:r>
                        <a:rPr lang="en-US" altLang="zh-CN" sz="1200" dirty="0">
                          <a:effectLst/>
                        </a:rPr>
                        <a:t>(PLM)</a:t>
                      </a:r>
                      <a:r>
                        <a:rPr lang="zh-CN" altLang="en-US" sz="1200" dirty="0">
                          <a:effectLst/>
                        </a:rPr>
                        <a:t>。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722210107"/>
                  </a:ext>
                </a:extLst>
              </a:tr>
              <a:tr h="51224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Build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All Cortex-M, </a:t>
                      </a:r>
                      <a:r>
                        <a:rPr lang="en-US" sz="1200" dirty="0" err="1">
                          <a:effectLst/>
                        </a:rPr>
                        <a:t>SecurCore</a:t>
                      </a:r>
                      <a:r>
                        <a:rPr lang="en-US" sz="1200" dirty="0">
                          <a:effectLst/>
                        </a:rPr>
                        <a:t>, Cortex-A5/A7/A9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提高生产力的一组工具、软件框架和工作流程，例如使用持续集成</a:t>
                      </a:r>
                      <a:r>
                        <a:rPr lang="en-US" altLang="zh-CN" sz="1200" dirty="0">
                          <a:effectLst/>
                        </a:rPr>
                        <a:t>(</a:t>
                      </a:r>
                      <a:r>
                        <a:rPr lang="en-US" sz="1200" dirty="0">
                          <a:effectLst/>
                        </a:rPr>
                        <a:t>Continuous Integration, CI)。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987047517"/>
                  </a:ext>
                </a:extLst>
              </a:tr>
              <a:tr h="51224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SVD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All Cortex-M, </a:t>
                      </a:r>
                      <a:r>
                        <a:rPr lang="en-US" sz="1200" dirty="0" err="1">
                          <a:effectLst/>
                        </a:rPr>
                        <a:t>SecurCore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设备的外设描述，可用于在调试器或</a:t>
                      </a:r>
                      <a:r>
                        <a:rPr lang="en-US" altLang="zh-CN" sz="1200" dirty="0">
                          <a:effectLst/>
                        </a:rPr>
                        <a:t>CMSIS-Core</a:t>
                      </a:r>
                      <a:r>
                        <a:rPr lang="zh-CN" altLang="en-US" sz="1200" dirty="0">
                          <a:effectLst/>
                        </a:rPr>
                        <a:t>头文件中创建外设感知。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33155796"/>
                  </a:ext>
                </a:extLst>
              </a:tr>
              <a:tr h="41430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DAP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All Cortex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接到</a:t>
                      </a:r>
                      <a:r>
                        <a:rPr lang="en-US" altLang="zh-CN" sz="1200" dirty="0" err="1">
                          <a:effectLst/>
                        </a:rPr>
                        <a:t>CoreSight</a:t>
                      </a:r>
                      <a:r>
                        <a:rPr lang="zh-CN" altLang="en-US" sz="1200" dirty="0">
                          <a:effectLst/>
                        </a:rPr>
                        <a:t>调试通道的调试单元组件。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647476100"/>
                  </a:ext>
                </a:extLst>
              </a:tr>
              <a:tr h="41430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Zone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All Cortex-M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定义描述系统资源并将这些资源划分为多个项目和执行区域的方法。</a:t>
                      </a:r>
                      <a:endParaRPr lang="en-US" sz="12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653704810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949A69D6-6C63-4CC4-9F80-AFAF50723FA8}"/>
              </a:ext>
            </a:extLst>
          </p:cNvPr>
          <p:cNvSpPr/>
          <p:nvPr/>
        </p:nvSpPr>
        <p:spPr>
          <a:xfrm>
            <a:off x="0" y="3429000"/>
            <a:ext cx="12192000" cy="1063101"/>
          </a:xfrm>
          <a:prstGeom prst="rect">
            <a:avLst/>
          </a:prstGeom>
          <a:solidFill>
            <a:srgbClr val="FF0000">
              <a:alpha val="3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888D05-E015-40AB-9D16-1AB346A615FA}"/>
              </a:ext>
            </a:extLst>
          </p:cNvPr>
          <p:cNvSpPr/>
          <p:nvPr/>
        </p:nvSpPr>
        <p:spPr>
          <a:xfrm>
            <a:off x="0" y="4007796"/>
            <a:ext cx="12192000" cy="484305"/>
          </a:xfrm>
          <a:prstGeom prst="rect">
            <a:avLst/>
          </a:prstGeom>
          <a:solidFill>
            <a:srgbClr val="FFFF00">
              <a:alpha val="3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84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7D5672F-4439-4AF2-97E2-80F87B997011}"/>
              </a:ext>
            </a:extLst>
          </p:cNvPr>
          <p:cNvSpPr txBox="1"/>
          <p:nvPr/>
        </p:nvSpPr>
        <p:spPr>
          <a:xfrm>
            <a:off x="1088994" y="782272"/>
            <a:ext cx="180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CMSIS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的作用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F9F29E-CF5D-4BE5-8DC0-C2D97FB48128}"/>
              </a:ext>
            </a:extLst>
          </p:cNvPr>
          <p:cNvSpPr txBox="1"/>
          <p:nvPr/>
        </p:nvSpPr>
        <p:spPr>
          <a:xfrm>
            <a:off x="1559511" y="1548709"/>
            <a:ext cx="907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提供了接口标准，便于移植和管理；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2982F3-50DD-4009-9C8A-CB5C4A667BFE}"/>
              </a:ext>
            </a:extLst>
          </p:cNvPr>
          <p:cNvSpPr txBox="1"/>
          <p:nvPr/>
        </p:nvSpPr>
        <p:spPr>
          <a:xfrm>
            <a:off x="1559511" y="2130480"/>
            <a:ext cx="907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提供了很多第三方固件，便于业务开发；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C4E290-F582-4845-80B6-14A214ED7B87}"/>
              </a:ext>
            </a:extLst>
          </p:cNvPr>
          <p:cNvSpPr txBox="1"/>
          <p:nvPr/>
        </p:nvSpPr>
        <p:spPr>
          <a:xfrm>
            <a:off x="1559511" y="2712251"/>
            <a:ext cx="9072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因为统一了接口，使底层硬件和上层应用耦合降低，更换硬件平台时只需开发人员改变底层硬件的驱动即可，上层业务应用程序无需做改动；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FBAF311-6B88-4BA6-8A9A-3BB596A54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511" y="3550597"/>
            <a:ext cx="8451312" cy="3048264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0DA7030D-A55D-4440-8C82-C2F1B803EB27}"/>
              </a:ext>
            </a:extLst>
          </p:cNvPr>
          <p:cNvSpPr/>
          <p:nvPr/>
        </p:nvSpPr>
        <p:spPr>
          <a:xfrm>
            <a:off x="2286000" y="5710136"/>
            <a:ext cx="5505855" cy="94358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1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11F504B-B680-47D5-8673-EC1589F85C5B}"/>
              </a:ext>
            </a:extLst>
          </p:cNvPr>
          <p:cNvSpPr txBox="1"/>
          <p:nvPr/>
        </p:nvSpPr>
        <p:spPr>
          <a:xfrm>
            <a:off x="758757" y="451531"/>
            <a:ext cx="180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RTOS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API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96BA55-D2A1-449D-834E-7C0C1EEA1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57" y="1151604"/>
            <a:ext cx="10674485" cy="41356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3BB3E3F-D8D2-4F88-88BC-0B9F4E98FE6F}"/>
              </a:ext>
            </a:extLst>
          </p:cNvPr>
          <p:cNvSpPr/>
          <p:nvPr/>
        </p:nvSpPr>
        <p:spPr>
          <a:xfrm>
            <a:off x="1070043" y="2908570"/>
            <a:ext cx="1371600" cy="22957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030B4E0-809E-4575-BD52-B5FCB5AA7018}"/>
              </a:ext>
            </a:extLst>
          </p:cNvPr>
          <p:cNvCxnSpPr>
            <a:cxnSpLocks/>
          </p:cNvCxnSpPr>
          <p:nvPr/>
        </p:nvCxnSpPr>
        <p:spPr>
          <a:xfrm flipH="1">
            <a:off x="2441643" y="820863"/>
            <a:ext cx="1342417" cy="4340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861A43E3-8A80-493A-8DD4-296581C10ECB}"/>
              </a:ext>
            </a:extLst>
          </p:cNvPr>
          <p:cNvSpPr/>
          <p:nvPr/>
        </p:nvSpPr>
        <p:spPr>
          <a:xfrm>
            <a:off x="758757" y="1151604"/>
            <a:ext cx="1682886" cy="171358"/>
          </a:xfrm>
          <a:prstGeom prst="rect">
            <a:avLst/>
          </a:prstGeom>
          <a:noFill/>
          <a:ln w="285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80C7AF-C32E-4636-9C24-6B8E001F8BEA}"/>
              </a:ext>
            </a:extLst>
          </p:cNvPr>
          <p:cNvSpPr txBox="1"/>
          <p:nvPr/>
        </p:nvSpPr>
        <p:spPr>
          <a:xfrm>
            <a:off x="351816" y="5926119"/>
            <a:ext cx="11488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rtos_doc_source\RTOS培训资料\02_项目2_基于FreeRTOS实现智能家居\02_CubeMX对FreeRTOS的适配\2_学习文档\01_接口函数和参数介绍.md</a:t>
            </a:r>
          </a:p>
        </p:txBody>
      </p:sp>
    </p:spTree>
    <p:extLst>
      <p:ext uri="{BB962C8B-B14F-4D97-AF65-F5344CB8AC3E}">
        <p14:creationId xmlns:p14="http://schemas.microsoft.com/office/powerpoint/2010/main" val="1881724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EF2A4B5-2D07-44ED-96A9-47D9C936680B}"/>
              </a:ext>
            </a:extLst>
          </p:cNvPr>
          <p:cNvSpPr txBox="1"/>
          <p:nvPr/>
        </p:nvSpPr>
        <p:spPr>
          <a:xfrm>
            <a:off x="758757" y="297643"/>
            <a:ext cx="2256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RTOS-V2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API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的应用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8AA0E5-9EFA-41CC-81CF-8A3B26B67771}"/>
              </a:ext>
            </a:extLst>
          </p:cNvPr>
          <p:cNvSpPr txBox="1"/>
          <p:nvPr/>
        </p:nvSpPr>
        <p:spPr>
          <a:xfrm>
            <a:off x="205901" y="6252580"/>
            <a:ext cx="11780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rtos_doc_source\RTOS培训资料\02_项目2_基于FreeRTOS实现智能家居\02_CubeMX对FreeRTOS的适配\2_学习文档\02_CMSIS接口应用示例.md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19E2A9F-ABBF-4D34-BDAA-850EF3CDB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43" y="666975"/>
            <a:ext cx="9944910" cy="514882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6E8C26D-085F-4C02-BEA7-F9A82F2E2B17}"/>
              </a:ext>
            </a:extLst>
          </p:cNvPr>
          <p:cNvSpPr txBox="1"/>
          <p:nvPr/>
        </p:nvSpPr>
        <p:spPr>
          <a:xfrm>
            <a:off x="205901" y="5905095"/>
            <a:ext cx="11488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rtos_doc_source\RTOS培训资料\02_项目2_基于FreeRTOS实现智能家居\02_CubeMX对FreeRTOS的适配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\1_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项目源码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\02_CMSIS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接口应用示例源码</a:t>
            </a:r>
          </a:p>
        </p:txBody>
      </p:sp>
    </p:spTree>
    <p:extLst>
      <p:ext uri="{BB962C8B-B14F-4D97-AF65-F5344CB8AC3E}">
        <p14:creationId xmlns:p14="http://schemas.microsoft.com/office/powerpoint/2010/main" val="4248587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E9F939F-2C83-454D-9237-0BD17FE13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59" y="1153504"/>
            <a:ext cx="3276884" cy="264436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60996FE-329F-49C0-B42A-617096CE1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989" y="1153504"/>
            <a:ext cx="3254022" cy="263674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E8CA980-3F82-4E31-8DEE-36B08BCBB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057" y="1153504"/>
            <a:ext cx="3261643" cy="259864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4C96F79-F272-4BB4-BC47-6C02D1FCF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059" y="4052348"/>
            <a:ext cx="3276884" cy="264436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D6A73F90-E485-4715-B5EC-50A3F86E5298}"/>
              </a:ext>
            </a:extLst>
          </p:cNvPr>
          <p:cNvSpPr txBox="1"/>
          <p:nvPr/>
        </p:nvSpPr>
        <p:spPr>
          <a:xfrm>
            <a:off x="4790157" y="4052348"/>
            <a:ext cx="586570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可以配置的任务属性：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名称；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优先级；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堆大小；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入口函数名；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入口函数的属性是在本文件还是外部文件还是一个弱函数；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是否输入参数；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静态任务或动态任务；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如果是静态任务，那么堆栈分配堆栈空间；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A94117C-64FE-4EA9-883E-EAA449BE6FE3}"/>
              </a:ext>
            </a:extLst>
          </p:cNvPr>
          <p:cNvSpPr txBox="1"/>
          <p:nvPr/>
        </p:nvSpPr>
        <p:spPr>
          <a:xfrm>
            <a:off x="9874004" y="2228213"/>
            <a:ext cx="15637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√</a:t>
            </a:r>
            <a:endParaRPr lang="zh-CN" altLang="en-US" sz="9600" dirty="0">
              <a:solidFill>
                <a:srgbClr val="FF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ECA74F3-2783-4B41-AD25-ACA7B4DB2E43}"/>
              </a:ext>
            </a:extLst>
          </p:cNvPr>
          <p:cNvSpPr txBox="1"/>
          <p:nvPr/>
        </p:nvSpPr>
        <p:spPr>
          <a:xfrm>
            <a:off x="4666034" y="3613207"/>
            <a:ext cx="2859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STM32CubeMX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创建任务</a:t>
            </a:r>
          </a:p>
        </p:txBody>
      </p:sp>
    </p:spTree>
    <p:extLst>
      <p:ext uri="{BB962C8B-B14F-4D97-AF65-F5344CB8AC3E}">
        <p14:creationId xmlns:p14="http://schemas.microsoft.com/office/powerpoint/2010/main" val="24570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8 0.00093 L 0.00508 0.00093 C -0.01133 -0.0125 -0.04167 -0.03472 -0.05404 -0.05601 C -0.06185 -0.06944 -0.06615 -0.08819 -0.07083 -0.10555 C -0.09284 -0.18819 -0.07721 -0.14629 -0.09232 -0.22338 C -0.09818 -0.25301 -0.10846 -0.27453 -0.12266 -0.29421 C -0.13932 -0.31759 -0.15768 -0.33726 -0.17539 -0.3581 C -0.18372 -0.36805 -0.19323 -0.375 -0.20091 -0.38657 C -0.20964 -0.39976 -0.21732 -0.41597 -0.22721 -0.42615 C -0.23659 -0.43611 -0.24271 -0.44351 -0.25273 -0.45046 C -0.25755 -0.4537 -0.26341 -0.45555 -0.26875 -0.45601 L -0.32214 -0.45879 C -0.32292 -0.46111 -0.32448 -0.46435 -0.32448 -0.46736 C -0.32448 -0.46898 -0.3237 -0.47152 -0.3237 -0.47152 " pathEditMode="relative" ptsTypes="AAAAAAAAAAAA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40C5E7-C563-4B40-BB5B-C4E3F6BA0E32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接口对比：任务创建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21DA13-AF34-4911-AFB2-035DD5842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620" y="1163321"/>
            <a:ext cx="6742760" cy="246909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A17439D-88D5-41F1-AB89-20F0FA95A4D9}"/>
              </a:ext>
            </a:extLst>
          </p:cNvPr>
          <p:cNvSpPr txBox="1"/>
          <p:nvPr/>
        </p:nvSpPr>
        <p:spPr>
          <a:xfrm>
            <a:off x="1109561" y="3978121"/>
            <a:ext cx="997287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Consolas" panose="020B0609020204030204" pitchFamily="49" charset="0"/>
                <a:ea typeface="黑体" panose="02010609060101010101" pitchFamily="49" charset="-122"/>
              </a:rPr>
              <a:t>typedef struct {</a:t>
            </a:r>
          </a:p>
          <a:p>
            <a:r>
              <a:rPr lang="zh-CN" altLang="en-US" sz="1400" b="1" dirty="0">
                <a:latin typeface="Consolas" panose="020B0609020204030204" pitchFamily="49" charset="0"/>
                <a:ea typeface="黑体" panose="02010609060101010101" pitchFamily="49" charset="-122"/>
              </a:rPr>
              <a:t>  const char                   *name;   ///&lt; name of the thread</a:t>
            </a:r>
          </a:p>
          <a:p>
            <a:r>
              <a:rPr lang="zh-CN" altLang="en-US" sz="1400" b="1" dirty="0">
                <a:latin typeface="Consolas" panose="020B0609020204030204" pitchFamily="49" charset="0"/>
                <a:ea typeface="黑体" panose="02010609060101010101" pitchFamily="49" charset="-122"/>
              </a:rPr>
              <a:t>  uint32_t                 attr_bits;   ///&lt; attribute bits</a:t>
            </a:r>
          </a:p>
          <a:p>
            <a:r>
              <a:rPr lang="zh-CN" altLang="en-US" sz="1400" b="1" dirty="0">
                <a:latin typeface="Consolas" panose="020B0609020204030204" pitchFamily="49" charset="0"/>
                <a:ea typeface="黑体" panose="02010609060101010101" pitchFamily="49" charset="-122"/>
              </a:rPr>
              <a:t>  void                      *cb_mem;    ///&lt; memory for control block</a:t>
            </a:r>
          </a:p>
          <a:p>
            <a:r>
              <a:rPr lang="zh-CN" altLang="en-US" sz="1400" b="1" dirty="0">
                <a:latin typeface="Consolas" panose="020B0609020204030204" pitchFamily="49" charset="0"/>
                <a:ea typeface="黑体" panose="02010609060101010101" pitchFamily="49" charset="-122"/>
              </a:rPr>
              <a:t>  uint32_t                   cb_size;   ///&lt; size of provided memory for control block</a:t>
            </a:r>
          </a:p>
          <a:p>
            <a:r>
              <a:rPr lang="zh-CN" altLang="en-US" sz="1400" b="1" dirty="0">
                <a:latin typeface="Consolas" panose="020B0609020204030204" pitchFamily="49" charset="0"/>
                <a:ea typeface="黑体" panose="02010609060101010101" pitchFamily="49" charset="-122"/>
              </a:rPr>
              <a:t>  void                   *stack_mem;    ///&lt; memory for stack</a:t>
            </a:r>
          </a:p>
          <a:p>
            <a:r>
              <a:rPr lang="zh-CN" altLang="en-US" sz="1400" b="1" dirty="0">
                <a:latin typeface="Consolas" panose="020B0609020204030204" pitchFamily="49" charset="0"/>
                <a:ea typeface="黑体" panose="02010609060101010101" pitchFamily="49" charset="-122"/>
              </a:rPr>
              <a:t>  uint32_t                stack_size;   ///&lt; size of stack</a:t>
            </a:r>
          </a:p>
          <a:p>
            <a:r>
              <a:rPr lang="zh-CN" altLang="en-US" sz="1400" b="1" dirty="0">
                <a:latin typeface="Consolas" panose="020B0609020204030204" pitchFamily="49" charset="0"/>
                <a:ea typeface="黑体" panose="02010609060101010101" pitchFamily="49" charset="-122"/>
              </a:rPr>
              <a:t>  osPriority_t              priority;   ///&lt; initial thread priority (default: osPriorityNormal)</a:t>
            </a:r>
          </a:p>
          <a:p>
            <a:r>
              <a:rPr lang="zh-CN" altLang="en-US" sz="1400" b="1" dirty="0">
                <a:latin typeface="Consolas" panose="020B0609020204030204" pitchFamily="49" charset="0"/>
                <a:ea typeface="黑体" panose="02010609060101010101" pitchFamily="49" charset="-122"/>
              </a:rPr>
              <a:t>  TZ_ModuleId_t            tz_module;   ///&lt; TrustZone module identifier</a:t>
            </a:r>
          </a:p>
          <a:p>
            <a:r>
              <a:rPr lang="zh-CN" altLang="en-US" sz="1400" b="1" dirty="0">
                <a:latin typeface="Consolas" panose="020B0609020204030204" pitchFamily="49" charset="0"/>
                <a:ea typeface="黑体" panose="02010609060101010101" pitchFamily="49" charset="-122"/>
              </a:rPr>
              <a:t>  uint32_t                  reserved;   ///&lt; reserved (must be 0)</a:t>
            </a:r>
          </a:p>
          <a:p>
            <a:r>
              <a:rPr lang="zh-CN" altLang="en-US" sz="1400" b="1" dirty="0">
                <a:latin typeface="Consolas" panose="020B0609020204030204" pitchFamily="49" charset="0"/>
                <a:ea typeface="黑体" panose="02010609060101010101" pitchFamily="49" charset="-122"/>
              </a:rPr>
              <a:t>} osThreadAttr_t;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6C5B91-FB91-4806-91D4-5D26EF5CEB7A}"/>
              </a:ext>
            </a:extLst>
          </p:cNvPr>
          <p:cNvSpPr/>
          <p:nvPr/>
        </p:nvSpPr>
        <p:spPr>
          <a:xfrm>
            <a:off x="1391055" y="4630365"/>
            <a:ext cx="3531141" cy="943583"/>
          </a:xfrm>
          <a:prstGeom prst="rect">
            <a:avLst/>
          </a:prstGeom>
          <a:solidFill>
            <a:schemeClr val="accent4">
              <a:alpha val="3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E80FDC1-6A85-4A2E-B3D8-BA5D41B3B907}"/>
              </a:ext>
            </a:extLst>
          </p:cNvPr>
          <p:cNvCxnSpPr>
            <a:stCxn id="9" idx="0"/>
          </p:cNvCxnSpPr>
          <p:nvPr/>
        </p:nvCxnSpPr>
        <p:spPr>
          <a:xfrm flipV="1">
            <a:off x="3156626" y="3259015"/>
            <a:ext cx="887836" cy="1371350"/>
          </a:xfrm>
          <a:prstGeom prst="straightConnector1">
            <a:avLst/>
          </a:prstGeom>
          <a:ln w="28575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20DB2DF-21F5-4E1C-8B3A-B1809A563357}"/>
              </a:ext>
            </a:extLst>
          </p:cNvPr>
          <p:cNvCxnSpPr>
            <a:stCxn id="9" idx="0"/>
          </p:cNvCxnSpPr>
          <p:nvPr/>
        </p:nvCxnSpPr>
        <p:spPr>
          <a:xfrm flipV="1">
            <a:off x="3156626" y="3259015"/>
            <a:ext cx="3173836" cy="1371350"/>
          </a:xfrm>
          <a:prstGeom prst="straightConnector1">
            <a:avLst/>
          </a:prstGeom>
          <a:ln w="28575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51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A1D003F-F407-49AB-B1F4-7741CB70F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20" y="1468413"/>
            <a:ext cx="3640353" cy="17125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149D383-3BD9-42B4-8D65-771122616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726" y="1468412"/>
            <a:ext cx="3640351" cy="171253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6FEF1EB-5841-4083-B44B-99547AD51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920" y="3677056"/>
            <a:ext cx="3640353" cy="19963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78FB7F3-B629-43B7-BA04-0F92A451D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726" y="3677056"/>
            <a:ext cx="3640353" cy="199632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B1F0DED-9B75-461F-89AE-E5E9220BC726}"/>
              </a:ext>
            </a:extLst>
          </p:cNvPr>
          <p:cNvSpPr txBox="1"/>
          <p:nvPr/>
        </p:nvSpPr>
        <p:spPr>
          <a:xfrm>
            <a:off x="4666034" y="3244334"/>
            <a:ext cx="2859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STM32CubeMX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创建信号</a:t>
            </a:r>
          </a:p>
        </p:txBody>
      </p:sp>
    </p:spTree>
    <p:extLst>
      <p:ext uri="{BB962C8B-B14F-4D97-AF65-F5344CB8AC3E}">
        <p14:creationId xmlns:p14="http://schemas.microsoft.com/office/powerpoint/2010/main" val="382441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0069 L 0.00026 -0.00069 C -0.09714 -0.05764 -0.14466 -0.07755 -0.23919 -0.17106 C -0.2513 -0.1831 -0.25924 -0.20532 -0.26862 -0.22338 C -0.32435 -0.33056 -0.27526 -0.2456 -0.31406 -0.31134 C -0.31549 -0.31898 -0.31693 -0.32639 -0.3181 -0.33403 C -0.31875 -0.33819 -0.31901 -0.34259 -0.31966 -0.34676 C -0.32057 -0.35162 -0.32187 -0.35625 -0.32292 -0.36111 C -0.32409 -0.39306 -0.3237 -0.37523 -0.3237 -0.41481 " pathEditMode="relative" ptsTypes="AAA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40C5E7-C563-4B40-BB5B-C4E3F6BA0E32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接口对比：信号量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C576B8-DAC2-4DF5-9631-349E4E85B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797" y="1107649"/>
            <a:ext cx="5962405" cy="316409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8238E48-0C4E-4724-9C4D-5A0D5C91ADCE}"/>
              </a:ext>
            </a:extLst>
          </p:cNvPr>
          <p:cNvSpPr txBox="1"/>
          <p:nvPr/>
        </p:nvSpPr>
        <p:spPr>
          <a:xfrm>
            <a:off x="2321666" y="4636354"/>
            <a:ext cx="75486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nsolas" panose="020B0609020204030204" pitchFamily="49" charset="0"/>
                <a:ea typeface="黑体" panose="02010609060101010101" pitchFamily="49" charset="-122"/>
              </a:rPr>
              <a:t>osSemaphoreId_t osSemaphoreNew (uint32_t max_count, </a:t>
            </a:r>
            <a:endParaRPr lang="en-US" altLang="zh-CN" sz="16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r>
              <a:rPr lang="en-US" altLang="zh-CN" sz="1600" dirty="0">
                <a:latin typeface="Consolas" panose="020B0609020204030204" pitchFamily="49" charset="0"/>
                <a:ea typeface="黑体" panose="02010609060101010101" pitchFamily="49" charset="-122"/>
              </a:rPr>
              <a:t>                                </a:t>
            </a:r>
            <a:r>
              <a:rPr lang="zh-CN" altLang="en-US" sz="1600" dirty="0">
                <a:latin typeface="Consolas" panose="020B0609020204030204" pitchFamily="49" charset="0"/>
                <a:ea typeface="黑体" panose="02010609060101010101" pitchFamily="49" charset="-122"/>
              </a:rPr>
              <a:t>uint32_t initial_count, </a:t>
            </a:r>
            <a:endParaRPr lang="en-US" altLang="zh-CN" sz="16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r>
              <a:rPr lang="en-US" altLang="zh-CN" sz="1600" dirty="0">
                <a:latin typeface="Consolas" panose="020B0609020204030204" pitchFamily="49" charset="0"/>
                <a:ea typeface="黑体" panose="02010609060101010101" pitchFamily="49" charset="-122"/>
              </a:rPr>
              <a:t>                                </a:t>
            </a:r>
            <a:r>
              <a:rPr lang="zh-CN" altLang="en-US" sz="1600" dirty="0">
                <a:latin typeface="Consolas" panose="020B0609020204030204" pitchFamily="49" charset="0"/>
                <a:ea typeface="黑体" panose="02010609060101010101" pitchFamily="49" charset="-122"/>
              </a:rPr>
              <a:t>const osSemaphoreAttr_t *attr);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7D728A-BC6A-4A27-983D-3E1A15AC2665}"/>
              </a:ext>
            </a:extLst>
          </p:cNvPr>
          <p:cNvSpPr txBox="1"/>
          <p:nvPr/>
        </p:nvSpPr>
        <p:spPr>
          <a:xfrm>
            <a:off x="2801566" y="5603132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latin typeface="Consolas" panose="020B0609020204030204" pitchFamily="49" charset="0"/>
                <a:ea typeface="黑体" panose="02010609060101010101" pitchFamily="49" charset="-122"/>
              </a:rPr>
              <a:t>max_count</a:t>
            </a:r>
            <a:r>
              <a:rPr lang="en-US" altLang="zh-CN" sz="1800" dirty="0">
                <a:latin typeface="Consolas" panose="020B0609020204030204" pitchFamily="49" charset="0"/>
                <a:ea typeface="黑体" panose="02010609060101010101" pitchFamily="49" charset="-122"/>
              </a:rPr>
              <a:t>=1 </a:t>
            </a:r>
            <a:r>
              <a:rPr lang="en-US" altLang="zh-CN" sz="1800" dirty="0">
                <a:latin typeface="Consolas" panose="020B0609020204030204" pitchFamily="49" charset="0"/>
                <a:ea typeface="黑体" panose="02010609060101010101" pitchFamily="49" charset="-122"/>
                <a:sym typeface="Wingdings" panose="05000000000000000000" pitchFamily="2" charset="2"/>
              </a:rPr>
              <a:t> </a:t>
            </a:r>
            <a:r>
              <a:rPr lang="zh-CN" altLang="en-US" sz="1800" dirty="0">
                <a:latin typeface="Consolas" panose="020B0609020204030204" pitchFamily="49" charset="0"/>
                <a:ea typeface="黑体" panose="02010609060101010101" pitchFamily="49" charset="-122"/>
                <a:sym typeface="Wingdings" panose="05000000000000000000" pitchFamily="2" charset="2"/>
              </a:rPr>
              <a:t>二进制信号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BF1A47-0620-4F92-82A3-8B70A27D09E4}"/>
              </a:ext>
            </a:extLst>
          </p:cNvPr>
          <p:cNvSpPr txBox="1"/>
          <p:nvPr/>
        </p:nvSpPr>
        <p:spPr>
          <a:xfrm>
            <a:off x="6179299" y="5584981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latin typeface="Consolas" panose="020B0609020204030204" pitchFamily="49" charset="0"/>
                <a:ea typeface="黑体" panose="02010609060101010101" pitchFamily="49" charset="-122"/>
              </a:rPr>
              <a:t>max_count</a:t>
            </a:r>
            <a:r>
              <a:rPr lang="en-US" altLang="zh-CN" sz="1800" dirty="0">
                <a:latin typeface="Consolas" panose="020B0609020204030204" pitchFamily="49" charset="0"/>
                <a:ea typeface="黑体" panose="02010609060101010101" pitchFamily="49" charset="-122"/>
              </a:rPr>
              <a:t>&gt;1 </a:t>
            </a:r>
            <a:r>
              <a:rPr lang="en-US" altLang="zh-CN" sz="1800" dirty="0">
                <a:latin typeface="Consolas" panose="020B0609020204030204" pitchFamily="49" charset="0"/>
                <a:ea typeface="黑体" panose="02010609060101010101" pitchFamily="49" charset="-122"/>
                <a:sym typeface="Wingdings" panose="05000000000000000000" pitchFamily="2" charset="2"/>
              </a:rPr>
              <a:t> </a:t>
            </a:r>
            <a:r>
              <a:rPr lang="zh-CN" altLang="en-US" sz="1800" dirty="0">
                <a:latin typeface="Consolas" panose="020B0609020204030204" pitchFamily="49" charset="0"/>
                <a:ea typeface="黑体" panose="02010609060101010101" pitchFamily="49" charset="-122"/>
                <a:sym typeface="Wingdings" panose="05000000000000000000" pitchFamily="2" charset="2"/>
              </a:rPr>
              <a:t>计数型信号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E957226-CDE9-4550-95A1-5F58201F8B59}"/>
              </a:ext>
            </a:extLst>
          </p:cNvPr>
          <p:cNvCxnSpPr>
            <a:stCxn id="10" idx="0"/>
          </p:cNvCxnSpPr>
          <p:nvPr/>
        </p:nvCxnSpPr>
        <p:spPr>
          <a:xfrm flipV="1">
            <a:off x="4407134" y="1840523"/>
            <a:ext cx="2064004" cy="3762609"/>
          </a:xfrm>
          <a:prstGeom prst="straightConnector1">
            <a:avLst/>
          </a:prstGeom>
          <a:ln w="28575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04D01D7-D123-431C-84E3-6E1CA95B9153}"/>
              </a:ext>
            </a:extLst>
          </p:cNvPr>
          <p:cNvCxnSpPr>
            <a:stCxn id="11" idx="0"/>
          </p:cNvCxnSpPr>
          <p:nvPr/>
        </p:nvCxnSpPr>
        <p:spPr>
          <a:xfrm flipV="1">
            <a:off x="7784867" y="2497015"/>
            <a:ext cx="10979" cy="3087966"/>
          </a:xfrm>
          <a:prstGeom prst="straightConnector1">
            <a:avLst/>
          </a:prstGeom>
          <a:ln w="28575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50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21761FD-5F80-4FDA-A11B-BF0E3BED7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507324"/>
            <a:ext cx="3622379" cy="17040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C246E1C-64A8-4D08-BFB5-3289A263A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820" y="1507324"/>
            <a:ext cx="3622379" cy="17040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73AC610-F730-450E-B084-6372B51B8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793323"/>
            <a:ext cx="3622379" cy="170407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6AB29F4-00ED-41F4-BF34-AE7A58687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821" y="3793323"/>
            <a:ext cx="3622378" cy="170407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34F5F0B-089C-43C6-8341-3D4888B626DF}"/>
              </a:ext>
            </a:extLst>
          </p:cNvPr>
          <p:cNvSpPr txBox="1"/>
          <p:nvPr/>
        </p:nvSpPr>
        <p:spPr>
          <a:xfrm>
            <a:off x="4554165" y="3244334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STM32CubeMX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创建互斥量</a:t>
            </a:r>
          </a:p>
        </p:txBody>
      </p:sp>
    </p:spTree>
    <p:extLst>
      <p:ext uri="{BB962C8B-B14F-4D97-AF65-F5344CB8AC3E}">
        <p14:creationId xmlns:p14="http://schemas.microsoft.com/office/powerpoint/2010/main" val="146125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3 -0.00255 L 0.00273 -0.00255 C -0.01602 -0.02361 -0.03268 -0.03889 -0.04714 -0.07106 C -0.0556 -0.08958 -0.05846 -0.11505 -0.06745 -0.13264 C -0.07786 -0.15324 -0.12396 -0.20556 -0.13763 -0.22315 C -0.14935 -0.23866 -0.15937 -0.25856 -0.17214 -0.27106 C -0.18372 -0.28241 -0.19583 -0.29236 -0.20677 -0.30532 C -0.21484 -0.31481 -0.24219 -0.34769 -0.25013 -0.35486 C -0.26159 -0.36528 -0.2737 -0.37361 -0.28568 -0.38218 C -0.29583 -0.38958 -0.30625 -0.39537 -0.31641 -0.40278 C -0.3181 -0.40394 -0.31966 -0.40602 -0.32122 -0.40787 C -0.32227 -0.40903 -0.32344 -0.40972 -0.32409 -0.41134 C -0.32448 -0.41227 -0.32409 -0.41366 -0.32409 -0.41458 " pathEditMode="relative" ptsTypes="AAAAAAA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40C5E7-C563-4B40-BB5B-C4E3F6BA0E32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接口对比：互斥量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0DCD7A-0302-4302-BC25-62CB68499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797" y="1216670"/>
            <a:ext cx="5962405" cy="302387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22E268A-58A5-42A1-AF03-A5F49FB1F14E}"/>
              </a:ext>
            </a:extLst>
          </p:cNvPr>
          <p:cNvSpPr txBox="1"/>
          <p:nvPr/>
        </p:nvSpPr>
        <p:spPr>
          <a:xfrm>
            <a:off x="1725442" y="4714176"/>
            <a:ext cx="87411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Consolas" panose="020B0609020204030204" pitchFamily="49" charset="0"/>
              </a:rPr>
              <a:t>typedef struct {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const char                   *name;   ///&lt; name of the mutex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uint32_t                 attr_bits;   ///&lt; attribute bits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void                      *cb_mem;    ///&lt; memory for control block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uint32_t                   cb_size;   ///&lt; size of provided memory for control block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} osMutexAttr_t;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98A06B-7BFC-49B6-AB5C-9F7C96044F6F}"/>
              </a:ext>
            </a:extLst>
          </p:cNvPr>
          <p:cNvSpPr/>
          <p:nvPr/>
        </p:nvSpPr>
        <p:spPr>
          <a:xfrm>
            <a:off x="1992923" y="5205046"/>
            <a:ext cx="3481754" cy="199292"/>
          </a:xfrm>
          <a:prstGeom prst="rect">
            <a:avLst/>
          </a:prstGeom>
          <a:solidFill>
            <a:schemeClr val="accent2">
              <a:alpha val="3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40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64BB25E-1D7F-4C5A-B652-264D68487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65" y="1701877"/>
            <a:ext cx="4053915" cy="19070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19AB50F-53EC-479B-A38F-93E18AE94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322" y="1701878"/>
            <a:ext cx="4053913" cy="190708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84FF16D-D559-43E0-A2C0-B3291E0B6D88}"/>
              </a:ext>
            </a:extLst>
          </p:cNvPr>
          <p:cNvSpPr txBox="1"/>
          <p:nvPr/>
        </p:nvSpPr>
        <p:spPr>
          <a:xfrm>
            <a:off x="4554167" y="3244334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STM32CubeMX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创建事件</a:t>
            </a:r>
          </a:p>
        </p:txBody>
      </p:sp>
    </p:spTree>
    <p:extLst>
      <p:ext uri="{BB962C8B-B14F-4D97-AF65-F5344CB8AC3E}">
        <p14:creationId xmlns:p14="http://schemas.microsoft.com/office/powerpoint/2010/main" val="2722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68 0.00417 L 0.00768 0.00417 C 0.00091 -0.01019 -0.00664 -0.02338 -0.01263 -0.03866 C -0.01784 -0.05208 -0.02018 -0.06875 -0.02604 -0.08148 C -0.0457 -0.12361 -0.06784 -0.16204 -0.08854 -0.20278 C -0.09805 -0.2213 -0.1056 -0.24329 -0.11641 -0.25903 C -0.17891 -0.35 -0.12917 -0.28287 -0.18086 -0.34282 C -0.18685 -0.34977 -0.19206 -0.35856 -0.19818 -0.36505 C -0.20742 -0.37477 -0.21654 -0.38704 -0.22708 -0.39074 L -0.24622 -0.39745 C -0.25521 -0.40046 -0.26432 -0.40255 -0.27318 -0.40602 C -0.28477 -0.41065 -0.29622 -0.4169 -0.30781 -0.42153 C -0.31667 -0.425 -0.33477 -0.42986 -0.33477 -0.42986 C -0.34219 -0.42731 -0.33919 -0.43102 -0.34141 -0.41458 " pathEditMode="relative" ptsTypes="AAAAAAAAAAAA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40C5E7-C563-4B40-BB5B-C4E3F6BA0E32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接口对比：事件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70B5AB-23F4-4C79-B0A8-7D0E7C931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604" y="1098598"/>
            <a:ext cx="5986791" cy="399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237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F53145D-0595-4197-A1B8-7B20B0D0C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30" y="1219008"/>
            <a:ext cx="2834886" cy="220999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F8F010F-F958-4D64-AB04-1CEE4B2C2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379" y="1219008"/>
            <a:ext cx="2834886" cy="220999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54BA4F1-CEE7-46E6-A89E-D72CE4EB6024}"/>
              </a:ext>
            </a:extLst>
          </p:cNvPr>
          <p:cNvSpPr txBox="1"/>
          <p:nvPr/>
        </p:nvSpPr>
        <p:spPr>
          <a:xfrm>
            <a:off x="3416171" y="4069332"/>
            <a:ext cx="70968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可以配置的队列属性：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名称；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队列大小；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队列成员的大小，可以是已定义的数据类型，也可以是自定义数据结构；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静态任务或动态分配；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如果是静态，那么分配堆栈空间；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0C3C0A6-E400-40F9-938E-58FF03E1F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1528" y="1219008"/>
            <a:ext cx="2834886" cy="220999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50099B3-7761-4211-B3D2-DD2DFF633FA9}"/>
              </a:ext>
            </a:extLst>
          </p:cNvPr>
          <p:cNvSpPr txBox="1"/>
          <p:nvPr/>
        </p:nvSpPr>
        <p:spPr>
          <a:xfrm>
            <a:off x="4665750" y="3244334"/>
            <a:ext cx="2859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STM32CubeMX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创建队列</a:t>
            </a:r>
          </a:p>
        </p:txBody>
      </p:sp>
    </p:spTree>
    <p:extLst>
      <p:ext uri="{BB962C8B-B14F-4D97-AF65-F5344CB8AC3E}">
        <p14:creationId xmlns:p14="http://schemas.microsoft.com/office/powerpoint/2010/main" val="214263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255 L 0 0.00255 C -0.0319 -0.0206 -0.12982 -0.0831 -0.17214 -0.13426 C -0.18086 -0.14468 -0.18724 -0.15995 -0.19427 -0.17361 C -0.22969 -0.24259 -0.22161 -0.2375 -0.24909 -0.27778 C -0.25469 -0.28611 -0.26016 -0.29514 -0.26641 -0.30185 C -0.27982 -0.3162 -0.29401 -0.32801 -0.30781 -0.34097 C -0.30898 -0.34236 -0.31159 -0.34444 -0.31159 -0.34444 C -0.3125 -0.34676 -0.31393 -0.34861 -0.31445 -0.35139 C -0.31523 -0.35463 -0.3151 -0.3581 -0.31549 -0.36157 C -0.31654 -0.37245 -0.31823 -0.38704 -0.32031 -0.39745 C -0.32148 -0.4037 -0.32435 -0.40347 -0.325 -0.41111 C -0.32513 -0.4125 -0.32383 -0.41227 -0.32318 -0.41273 " pathEditMode="relative" ptsTypes="AAAAAAAAAAA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40C5E7-C563-4B40-BB5B-C4E3F6BA0E32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接口对比：队列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290CAA-3C1C-443E-8161-D304AE4D0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604" y="1524007"/>
            <a:ext cx="5986791" cy="279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621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12BB10A-7815-4AA5-9E10-B964C6C6B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658" y="2288361"/>
            <a:ext cx="9516681" cy="229839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C256D2D-604D-4950-9864-1044F8D13C0E}"/>
              </a:ext>
            </a:extLst>
          </p:cNvPr>
          <p:cNvSpPr txBox="1"/>
          <p:nvPr/>
        </p:nvSpPr>
        <p:spPr>
          <a:xfrm>
            <a:off x="5468643" y="3252891"/>
            <a:ext cx="1254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任务通知</a:t>
            </a:r>
          </a:p>
        </p:txBody>
      </p:sp>
    </p:spTree>
    <p:extLst>
      <p:ext uri="{BB962C8B-B14F-4D97-AF65-F5344CB8AC3E}">
        <p14:creationId xmlns:p14="http://schemas.microsoft.com/office/powerpoint/2010/main" val="66518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86 0.00879 L -0.00286 0.00879 C -0.01107 2.59259E-6 -0.01888 -0.00996 -0.0276 -0.01713 C -0.05104 -0.03658 -0.12643 -0.09213 -0.15859 -0.1169 C -0.17682 -0.13079 -0.22331 -0.16644 -0.24089 -0.18542 C -0.2651 -0.21204 -0.30013 -0.27014 -0.31732 -0.30324 C -0.32018 -0.30903 -0.32292 -0.31482 -0.32604 -0.32014 C -0.32852 -0.32431 -0.33164 -0.32732 -0.33398 -0.33172 C -0.34779 -0.35695 -0.34557 -0.35949 -0.35885 -0.37847 C -0.36419 -0.38611 -0.37057 -0.39167 -0.37552 -0.40047 C -0.37721 -0.40347 -0.37878 -0.40695 -0.3806 -0.40949 C -0.38307 -0.41273 -0.3875 -0.41273 -0.3901 -0.41343 C -0.39362 -0.41505 -0.39232 -0.41343 -0.3944 -0.41713 " pathEditMode="relative" ptsTypes="AAAAAAA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ED2A7A-41C4-4053-8C3A-22CBB946A33D}"/>
              </a:ext>
            </a:extLst>
          </p:cNvPr>
          <p:cNvSpPr txBox="1"/>
          <p:nvPr/>
        </p:nvSpPr>
        <p:spPr>
          <a:xfrm>
            <a:off x="5332519" y="3244334"/>
            <a:ext cx="1526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软件定时器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7AAE18BF-9DA2-4839-9252-EECFFB3EE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7" y="930221"/>
            <a:ext cx="3705085" cy="2498779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DF9FE1C3-98F9-4ACD-9A00-38895B9D1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88" y="930223"/>
            <a:ext cx="3705082" cy="2498777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FF636B46-65DD-45BF-A231-FBA14363F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656" y="930222"/>
            <a:ext cx="3705084" cy="2498778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00C481C0-42A0-4598-9DBB-D91C3DB1D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21" y="3736005"/>
            <a:ext cx="3705081" cy="2498776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F88FCE83-954C-42B5-BAD1-DA698C5C81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1" y="3736006"/>
            <a:ext cx="3705079" cy="2498775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D1F8734D-392B-49F2-B618-2E116C145F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3659" y="3736005"/>
            <a:ext cx="3705078" cy="249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1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86 0.00879 L -0.00286 0.00879 C -0.01107 2.59259E-6 -0.01888 -0.00996 -0.0276 -0.01713 C -0.05104 -0.03658 -0.12643 -0.09213 -0.15859 -0.1169 C -0.17682 -0.13079 -0.22331 -0.16644 -0.24089 -0.18542 C -0.2651 -0.21204 -0.30013 -0.27014 -0.31732 -0.30324 C -0.32018 -0.30903 -0.32292 -0.31482 -0.32604 -0.32014 C -0.32852 -0.32431 -0.33164 -0.32732 -0.33398 -0.33172 C -0.34779 -0.35695 -0.34557 -0.35949 -0.35885 -0.37847 C -0.36419 -0.38611 -0.37057 -0.39167 -0.37552 -0.40047 C -0.37721 -0.40347 -0.37878 -0.40695 -0.3806 -0.40949 C -0.38307 -0.41273 -0.3875 -0.41273 -0.3901 -0.41343 C -0.39362 -0.41505 -0.39232 -0.41343 -0.3944 -0.41713 " pathEditMode="relative" ptsTypes="AAAAAAA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ED2A7A-41C4-4053-8C3A-22CBB946A33D}"/>
              </a:ext>
            </a:extLst>
          </p:cNvPr>
          <p:cNvSpPr txBox="1"/>
          <p:nvPr/>
        </p:nvSpPr>
        <p:spPr>
          <a:xfrm>
            <a:off x="494189" y="199293"/>
            <a:ext cx="1526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软件定时器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AC6461-C28A-4604-B6E7-795CBA948701}"/>
              </a:ext>
            </a:extLst>
          </p:cNvPr>
          <p:cNvSpPr/>
          <p:nvPr/>
        </p:nvSpPr>
        <p:spPr>
          <a:xfrm>
            <a:off x="3027286" y="1607253"/>
            <a:ext cx="2237172" cy="32847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osTimerNew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76939C-D670-4008-8175-72B61164398E}"/>
              </a:ext>
            </a:extLst>
          </p:cNvPr>
          <p:cNvSpPr/>
          <p:nvPr/>
        </p:nvSpPr>
        <p:spPr>
          <a:xfrm>
            <a:off x="3027286" y="2809782"/>
            <a:ext cx="2237172" cy="32847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osTimerStart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7D6D81-B9EF-46C9-98B1-EF121F5ECFA5}"/>
              </a:ext>
            </a:extLst>
          </p:cNvPr>
          <p:cNvSpPr/>
          <p:nvPr/>
        </p:nvSpPr>
        <p:spPr>
          <a:xfrm>
            <a:off x="3027286" y="3449428"/>
            <a:ext cx="2237172" cy="32847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osTimerStop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3C4B79-9AFE-4155-BE92-E08625FDF97F}"/>
              </a:ext>
            </a:extLst>
          </p:cNvPr>
          <p:cNvSpPr/>
          <p:nvPr/>
        </p:nvSpPr>
        <p:spPr>
          <a:xfrm>
            <a:off x="3027286" y="4089074"/>
            <a:ext cx="2237172" cy="32847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osTimerIsRunning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3E92AC-8EDE-4DC8-A112-A9A1BAA5D5D6}"/>
              </a:ext>
            </a:extLst>
          </p:cNvPr>
          <p:cNvSpPr/>
          <p:nvPr/>
        </p:nvSpPr>
        <p:spPr>
          <a:xfrm>
            <a:off x="3027286" y="4728720"/>
            <a:ext cx="2237172" cy="32847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osTimerDelete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B99C56-B497-4CCB-A9E7-275B13419209}"/>
              </a:ext>
            </a:extLst>
          </p:cNvPr>
          <p:cNvSpPr/>
          <p:nvPr/>
        </p:nvSpPr>
        <p:spPr>
          <a:xfrm>
            <a:off x="3027286" y="2246899"/>
            <a:ext cx="2237172" cy="32847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osTimerGetName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712B58-E527-43EF-83EB-412B8BF6E052}"/>
              </a:ext>
            </a:extLst>
          </p:cNvPr>
          <p:cNvSpPr/>
          <p:nvPr/>
        </p:nvSpPr>
        <p:spPr>
          <a:xfrm>
            <a:off x="6859480" y="1278780"/>
            <a:ext cx="2237172" cy="32847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xTimerCreate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0870BF-7551-4E14-A6AC-1328B75473F0}"/>
              </a:ext>
            </a:extLst>
          </p:cNvPr>
          <p:cNvSpPr/>
          <p:nvPr/>
        </p:nvSpPr>
        <p:spPr>
          <a:xfrm>
            <a:off x="6859480" y="1933084"/>
            <a:ext cx="2237172" cy="32847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xTimerCreateStatic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2FE73A-D9F8-4B1E-AFFC-82AEF11D9E6D}"/>
              </a:ext>
            </a:extLst>
          </p:cNvPr>
          <p:cNvSpPr/>
          <p:nvPr/>
        </p:nvSpPr>
        <p:spPr>
          <a:xfrm>
            <a:off x="6859480" y="2809781"/>
            <a:ext cx="2237172" cy="32847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xTimerChangePeriod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6A3ADB-3976-4806-ACF4-6504912DE298}"/>
              </a:ext>
            </a:extLst>
          </p:cNvPr>
          <p:cNvSpPr/>
          <p:nvPr/>
        </p:nvSpPr>
        <p:spPr>
          <a:xfrm>
            <a:off x="6859480" y="3449427"/>
            <a:ext cx="2237172" cy="32847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xTimerStop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F8FCCE-E730-424B-A211-450E464C3E67}"/>
              </a:ext>
            </a:extLst>
          </p:cNvPr>
          <p:cNvSpPr/>
          <p:nvPr/>
        </p:nvSpPr>
        <p:spPr>
          <a:xfrm>
            <a:off x="6859480" y="4089073"/>
            <a:ext cx="2237172" cy="32847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xTimerIsTimerActive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8757F0-6CAA-4B64-A5CA-54992EF4AB00}"/>
              </a:ext>
            </a:extLst>
          </p:cNvPr>
          <p:cNvSpPr/>
          <p:nvPr/>
        </p:nvSpPr>
        <p:spPr>
          <a:xfrm>
            <a:off x="6859480" y="4728720"/>
            <a:ext cx="2237172" cy="32847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xTimerDelete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0015322D-4787-4631-A1B3-8BC9EDE1FBF2}"/>
              </a:ext>
            </a:extLst>
          </p:cNvPr>
          <p:cNvCxnSpPr>
            <a:stCxn id="5" idx="3"/>
            <a:endCxn id="14" idx="1"/>
          </p:cNvCxnSpPr>
          <p:nvPr/>
        </p:nvCxnSpPr>
        <p:spPr>
          <a:xfrm flipV="1">
            <a:off x="5264458" y="1443017"/>
            <a:ext cx="1595022" cy="328473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6938C535-B980-45C9-8A57-1244290E019C}"/>
              </a:ext>
            </a:extLst>
          </p:cNvPr>
          <p:cNvCxnSpPr>
            <a:stCxn id="5" idx="3"/>
            <a:endCxn id="15" idx="1"/>
          </p:cNvCxnSpPr>
          <p:nvPr/>
        </p:nvCxnSpPr>
        <p:spPr>
          <a:xfrm>
            <a:off x="5264458" y="1771490"/>
            <a:ext cx="1595022" cy="325831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024F7CD-A13B-42D9-A0FD-02F1DD708F5B}"/>
              </a:ext>
            </a:extLst>
          </p:cNvPr>
          <p:cNvCxnSpPr>
            <a:stCxn id="9" idx="3"/>
            <a:endCxn id="16" idx="1"/>
          </p:cNvCxnSpPr>
          <p:nvPr/>
        </p:nvCxnSpPr>
        <p:spPr>
          <a:xfrm flipV="1">
            <a:off x="5264458" y="2974018"/>
            <a:ext cx="159502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40E858E-443C-41AA-95A0-C87B5192CEBC}"/>
              </a:ext>
            </a:extLst>
          </p:cNvPr>
          <p:cNvCxnSpPr>
            <a:stCxn id="10" idx="3"/>
            <a:endCxn id="17" idx="1"/>
          </p:cNvCxnSpPr>
          <p:nvPr/>
        </p:nvCxnSpPr>
        <p:spPr>
          <a:xfrm flipV="1">
            <a:off x="5264458" y="3613664"/>
            <a:ext cx="159502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400C752-F27C-4140-89D2-298B7842A1C7}"/>
              </a:ext>
            </a:extLst>
          </p:cNvPr>
          <p:cNvCxnSpPr>
            <a:stCxn id="11" idx="3"/>
            <a:endCxn id="18" idx="1"/>
          </p:cNvCxnSpPr>
          <p:nvPr/>
        </p:nvCxnSpPr>
        <p:spPr>
          <a:xfrm flipV="1">
            <a:off x="5264458" y="4253310"/>
            <a:ext cx="159502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E0EC976-01F0-4846-92B7-AF227BC4B13A}"/>
              </a:ext>
            </a:extLst>
          </p:cNvPr>
          <p:cNvCxnSpPr>
            <a:stCxn id="12" idx="3"/>
            <a:endCxn id="19" idx="1"/>
          </p:cNvCxnSpPr>
          <p:nvPr/>
        </p:nvCxnSpPr>
        <p:spPr>
          <a:xfrm>
            <a:off x="5264458" y="4892957"/>
            <a:ext cx="15950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3D32CBE-84B3-4420-9E8E-FEB291477664}"/>
              </a:ext>
            </a:extLst>
          </p:cNvPr>
          <p:cNvCxnSpPr/>
          <p:nvPr/>
        </p:nvCxnSpPr>
        <p:spPr>
          <a:xfrm>
            <a:off x="2787588" y="1278780"/>
            <a:ext cx="0" cy="4154354"/>
          </a:xfrm>
          <a:prstGeom prst="line">
            <a:avLst/>
          </a:prstGeom>
          <a:ln w="28575">
            <a:solidFill>
              <a:srgbClr val="7030A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A4CB006-7060-4B2B-B845-3AE5E8F23302}"/>
              </a:ext>
            </a:extLst>
          </p:cNvPr>
          <p:cNvCxnSpPr>
            <a:cxnSpLocks/>
          </p:cNvCxnSpPr>
          <p:nvPr/>
        </p:nvCxnSpPr>
        <p:spPr>
          <a:xfrm>
            <a:off x="9330431" y="1278780"/>
            <a:ext cx="0" cy="4154354"/>
          </a:xfrm>
          <a:prstGeom prst="line">
            <a:avLst/>
          </a:prstGeom>
          <a:ln w="28575">
            <a:solidFill>
              <a:srgbClr val="7030A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7EACB72-4E7B-41C5-904E-37055C29D605}"/>
              </a:ext>
            </a:extLst>
          </p:cNvPr>
          <p:cNvCxnSpPr/>
          <p:nvPr/>
        </p:nvCxnSpPr>
        <p:spPr>
          <a:xfrm>
            <a:off x="5708342" y="1278780"/>
            <a:ext cx="0" cy="4154354"/>
          </a:xfrm>
          <a:prstGeom prst="line">
            <a:avLst/>
          </a:prstGeom>
          <a:ln w="28575">
            <a:solidFill>
              <a:srgbClr val="7030A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711777AB-AB9A-4809-B50E-AEDCFC79CF88}"/>
              </a:ext>
            </a:extLst>
          </p:cNvPr>
          <p:cNvSpPr txBox="1"/>
          <p:nvPr/>
        </p:nvSpPr>
        <p:spPr>
          <a:xfrm>
            <a:off x="3654643" y="5063802"/>
            <a:ext cx="1012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CMSIS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AF8F7E8-B15B-42D5-8121-064771EA78CB}"/>
              </a:ext>
            </a:extLst>
          </p:cNvPr>
          <p:cNvSpPr txBox="1"/>
          <p:nvPr/>
        </p:nvSpPr>
        <p:spPr>
          <a:xfrm>
            <a:off x="7548979" y="5063802"/>
            <a:ext cx="1260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 err="1"/>
              <a:t>FreeRTOS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3694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8E54A62-9D5F-4C1F-8B43-1A33678F2B83}"/>
              </a:ext>
            </a:extLst>
          </p:cNvPr>
          <p:cNvSpPr txBox="1"/>
          <p:nvPr/>
        </p:nvSpPr>
        <p:spPr>
          <a:xfrm>
            <a:off x="1070041" y="898501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44DE97-DDC4-45C4-9D5A-EB41D11D26E9}"/>
              </a:ext>
            </a:extLst>
          </p:cNvPr>
          <p:cNvSpPr txBox="1"/>
          <p:nvPr/>
        </p:nvSpPr>
        <p:spPr>
          <a:xfrm>
            <a:off x="2193585" y="2104344"/>
            <a:ext cx="9046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STM32CubeMX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可以创建的对象：任务、队列、定时器、信号、互斥量、事件、用户自己的常量；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40519D-A9F8-4DD8-B56C-FDE973DB70E2}"/>
              </a:ext>
            </a:extLst>
          </p:cNvPr>
          <p:cNvSpPr txBox="1"/>
          <p:nvPr/>
        </p:nvSpPr>
        <p:spPr>
          <a:xfrm>
            <a:off x="2193585" y="2788617"/>
            <a:ext cx="56220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每个对象都可以选择是静态分配还是动态分配堆栈空间；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D3D8A3-FE27-4F59-B10C-3AA5EF8696C8}"/>
              </a:ext>
            </a:extLst>
          </p:cNvPr>
          <p:cNvSpPr txBox="1"/>
          <p:nvPr/>
        </p:nvSpPr>
        <p:spPr>
          <a:xfrm>
            <a:off x="2193585" y="3472890"/>
            <a:ext cx="6853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FreeRTOS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中是通过函数的形参指定属性，比如优先级、静态空间等；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BCC249-3327-4AC5-BE85-B9816CAA6AD5}"/>
              </a:ext>
            </a:extLst>
          </p:cNvPr>
          <p:cNvSpPr txBox="1"/>
          <p:nvPr/>
        </p:nvSpPr>
        <p:spPr>
          <a:xfrm>
            <a:off x="2193585" y="4161186"/>
            <a:ext cx="92127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CMSIS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RTOS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接口中，是通过每个对象新建时的属性形参，来指定该对象的例如优先级、大小、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静态空间等的属性；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4294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96F77E2-2933-4040-B57C-01A352628AB3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CMSIS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FreeRTOS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的接口对比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1AAA72-7F1A-4101-A045-7AF8F4B7C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772" y="962369"/>
            <a:ext cx="5868455" cy="519658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81C7396-BCF4-4FF6-9297-8DA2731C8C68}"/>
              </a:ext>
            </a:extLst>
          </p:cNvPr>
          <p:cNvSpPr txBox="1"/>
          <p:nvPr/>
        </p:nvSpPr>
        <p:spPr>
          <a:xfrm>
            <a:off x="102140" y="6330401"/>
            <a:ext cx="11987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rtos_doc_source\RTOS培训资料\02_项目2_基于FreeRTOS实现智能家居\02_CubeMX对FreeRTOS的适配\2_学习文档\05_CMSIS与FreeRTOS API的对比.md</a:t>
            </a:r>
          </a:p>
        </p:txBody>
      </p:sp>
    </p:spTree>
    <p:extLst>
      <p:ext uri="{BB962C8B-B14F-4D97-AF65-F5344CB8AC3E}">
        <p14:creationId xmlns:p14="http://schemas.microsoft.com/office/powerpoint/2010/main" val="2406968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40E933-B028-420A-960D-9A9C6B673320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应用实践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场景设计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D921B96-929A-46E1-892E-22D88E246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829" y="497629"/>
            <a:ext cx="4940341" cy="4245419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8E9EAAEC-9BCA-41DF-90C3-9F3525998630}"/>
              </a:ext>
            </a:extLst>
          </p:cNvPr>
          <p:cNvGrpSpPr/>
          <p:nvPr/>
        </p:nvGrpSpPr>
        <p:grpSpPr>
          <a:xfrm>
            <a:off x="3490156" y="4959229"/>
            <a:ext cx="5211686" cy="1670989"/>
            <a:chOff x="6980314" y="2457817"/>
            <a:chExt cx="5211686" cy="1670989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A6C4382-7017-48D0-93FB-86990F54BC83}"/>
                </a:ext>
              </a:extLst>
            </p:cNvPr>
            <p:cNvSpPr txBox="1"/>
            <p:nvPr/>
          </p:nvSpPr>
          <p:spPr>
            <a:xfrm>
              <a:off x="6980317" y="2457817"/>
              <a:ext cx="52116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按键控制电机的启停和转速：长按控制启停，短按控制加减速；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D10EC90-3955-4BB1-AF69-59AE76F54C0C}"/>
                </a:ext>
              </a:extLst>
            </p:cNvPr>
            <p:cNvSpPr txBox="1"/>
            <p:nvPr/>
          </p:nvSpPr>
          <p:spPr>
            <a:xfrm>
              <a:off x="6980316" y="2912221"/>
              <a:ext cx="46730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LED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表示电机的转速：根据转速区间点亮不同颜色的</a:t>
              </a:r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LED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；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6F90084-348A-44A0-870E-B6B918BE5650}"/>
                </a:ext>
              </a:extLst>
            </p:cNvPr>
            <p:cNvSpPr txBox="1"/>
            <p:nvPr/>
          </p:nvSpPr>
          <p:spPr>
            <a:xfrm>
              <a:off x="6980315" y="3366625"/>
              <a:ext cx="20697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DHT11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获取环境温湿度；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8445354-2079-43F2-9DD1-7C2EA4171FF3}"/>
                </a:ext>
              </a:extLst>
            </p:cNvPr>
            <p:cNvSpPr txBox="1"/>
            <p:nvPr/>
          </p:nvSpPr>
          <p:spPr>
            <a:xfrm>
              <a:off x="6980314" y="3821029"/>
              <a:ext cx="30572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OLED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显示电机状态、速度、温湿度；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8764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40E933-B028-420A-960D-9A9C6B673320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应用实践：硬件设计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F21577-6F09-463D-8133-06629CB8F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137" y="1404936"/>
            <a:ext cx="3781425" cy="4048125"/>
          </a:xfrm>
          <a:prstGeom prst="rect">
            <a:avLst/>
          </a:prstGeom>
        </p:spPr>
      </p:pic>
      <p:sp>
        <p:nvSpPr>
          <p:cNvPr id="2" name="箭头: 右 1">
            <a:extLst>
              <a:ext uri="{FF2B5EF4-FFF2-40B4-BE49-F238E27FC236}">
                <a16:creationId xmlns:a16="http://schemas.microsoft.com/office/drawing/2014/main" id="{0CD721E1-24C0-4FFA-A422-ABF1D575A804}"/>
              </a:ext>
            </a:extLst>
          </p:cNvPr>
          <p:cNvSpPr/>
          <p:nvPr/>
        </p:nvSpPr>
        <p:spPr>
          <a:xfrm>
            <a:off x="5856913" y="3361887"/>
            <a:ext cx="478173" cy="1342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B455B1A-04A2-4FD9-A393-CEF593E56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037547"/>
              </p:ext>
            </p:extLst>
          </p:nvPr>
        </p:nvGraphicFramePr>
        <p:xfrm>
          <a:off x="6680437" y="1920239"/>
          <a:ext cx="421686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74">
                  <a:extLst>
                    <a:ext uri="{9D8B030D-6E8A-4147-A177-3AD203B41FA5}">
                      <a16:colId xmlns:a16="http://schemas.microsoft.com/office/drawing/2014/main" val="2277297785"/>
                    </a:ext>
                  </a:extLst>
                </a:gridCol>
                <a:gridCol w="653244">
                  <a:extLst>
                    <a:ext uri="{9D8B030D-6E8A-4147-A177-3AD203B41FA5}">
                      <a16:colId xmlns:a16="http://schemas.microsoft.com/office/drawing/2014/main" val="3497034079"/>
                    </a:ext>
                  </a:extLst>
                </a:gridCol>
                <a:gridCol w="631038">
                  <a:extLst>
                    <a:ext uri="{9D8B030D-6E8A-4147-A177-3AD203B41FA5}">
                      <a16:colId xmlns:a16="http://schemas.microsoft.com/office/drawing/2014/main" val="373500028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87752047"/>
                    </a:ext>
                  </a:extLst>
                </a:gridCol>
                <a:gridCol w="1128527">
                  <a:extLst>
                    <a:ext uri="{9D8B030D-6E8A-4147-A177-3AD203B41FA5}">
                      <a16:colId xmlns:a16="http://schemas.microsoft.com/office/drawing/2014/main" val="18978805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序号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外设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引脚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说明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66938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lang="zh-CN" altLang="en-US" sz="1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LED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PF7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推挽输出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946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PF8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推挽输出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69314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PF9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推挽输出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89200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endParaRPr lang="zh-CN" altLang="en-US" sz="1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按键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PE14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双边沿外部中断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7889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PE15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双边沿外部中断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4328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lang="zh-CN" altLang="en-US" sz="1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电机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PE6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推挽输出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0781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PC6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定时器</a:t>
                      </a:r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的通道</a:t>
                      </a:r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输出</a:t>
                      </a:r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PWM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898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endParaRPr lang="zh-CN" altLang="en-US" sz="1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DHT11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PF6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开漏输出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单总线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52059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endParaRPr lang="zh-CN" altLang="en-US" sz="1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OLED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PF10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开漏输出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I2C</a:t>
                      </a:r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的时钟线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53146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PF11</a:t>
                      </a:r>
                      <a:endParaRPr lang="zh-CN" altLang="en-US" sz="12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开漏输出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I2C</a:t>
                      </a:r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的数据线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196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209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40E933-B028-420A-960D-9A9C6B673320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应用实践：软件设计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9A24B09-35EA-4A42-8E18-31A40C62D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416" y="905256"/>
            <a:ext cx="9345168" cy="504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824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40E933-B028-420A-960D-9A9C6B673320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应用实践：按键流程图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A56044-21F6-4A4B-B369-2A2A34540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936" y="1316736"/>
            <a:ext cx="6358128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84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40E933-B028-420A-960D-9A9C6B673320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应用实践：电机流程图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8BF473-9F5A-4819-B991-6018E25CB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117" y="1069514"/>
            <a:ext cx="5099766" cy="471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715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40E933-B028-420A-960D-9A9C6B673320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应用实践：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LED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流程图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11279C-C9AA-4351-BAB7-833E10065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962" y="1907085"/>
            <a:ext cx="3428076" cy="304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70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40E933-B028-420A-960D-9A9C6B673320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应用实践：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DHT11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流程图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FF54FE-D161-47C9-B850-D7F786091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560" y="1383792"/>
            <a:ext cx="2468880" cy="409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73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40E933-B028-420A-960D-9A9C6B673320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应用实践：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OLED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流程图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35A2EB-6575-41A5-8D37-B7EEB2A4E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152" y="2161032"/>
            <a:ext cx="4425696" cy="253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957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CD780A7-55B5-4451-8CAF-691657A080EB}"/>
              </a:ext>
            </a:extLst>
          </p:cNvPr>
          <p:cNvSpPr txBox="1"/>
          <p:nvPr/>
        </p:nvSpPr>
        <p:spPr>
          <a:xfrm>
            <a:off x="758756" y="373710"/>
            <a:ext cx="308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应用实践：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STM32CubeMX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配置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79041B-569D-4C24-BBE2-84BFEB600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103" y="970828"/>
            <a:ext cx="6953250" cy="16097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918361C-D709-4716-ABBA-6B488B360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053" y="2808339"/>
            <a:ext cx="6991350" cy="11525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6457EE8-64F8-4934-A557-C115E6B22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053" y="4418064"/>
            <a:ext cx="69342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54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1219</TotalTime>
  <Words>1363</Words>
  <Application>Microsoft Office PowerPoint</Application>
  <PresentationFormat>宽屏</PresentationFormat>
  <Paragraphs>181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等线</vt:lpstr>
      <vt:lpstr>等线 Light</vt:lpstr>
      <vt:lpstr>黑体</vt:lpstr>
      <vt:lpstr>Arial</vt:lpstr>
      <vt:lpstr>Consolas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slhuan</dc:creator>
  <cp:lastModifiedBy>slhuan</cp:lastModifiedBy>
  <cp:revision>48</cp:revision>
  <dcterms:created xsi:type="dcterms:W3CDTF">2021-11-17T08:00:12Z</dcterms:created>
  <dcterms:modified xsi:type="dcterms:W3CDTF">2021-11-26T09:23:32Z</dcterms:modified>
</cp:coreProperties>
</file>